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4"/>
  </p:notesMasterIdLst>
  <p:handoutMasterIdLst>
    <p:handoutMasterId r:id="rId5"/>
  </p:handoutMasterIdLst>
  <p:sldIdLst>
    <p:sldId id="263" r:id="rId2"/>
    <p:sldId id="265" r:id="rId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2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승모" initials="강" lastIdx="4" clrIdx="0">
    <p:extLst>
      <p:ext uri="{19B8F6BF-5375-455C-9EA6-DF929625EA0E}">
        <p15:presenceInfo xmlns:p15="http://schemas.microsoft.com/office/powerpoint/2012/main" userId="강승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A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09" autoAdjust="0"/>
    <p:restoredTop sz="97430" autoAdjust="0"/>
  </p:normalViewPr>
  <p:slideViewPr>
    <p:cSldViewPr snapToGrid="0">
      <p:cViewPr varScale="1">
        <p:scale>
          <a:sx n="69" d="100"/>
          <a:sy n="69" d="100"/>
        </p:scale>
        <p:origin x="66" y="762"/>
      </p:cViewPr>
      <p:guideLst>
        <p:guide orient="horz" pos="867"/>
        <p:guide pos="2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71316"/>
    </p:cViewPr>
  </p:sorterViewPr>
  <p:notesViewPr>
    <p:cSldViewPr snapToGrid="0" showGuides="1">
      <p:cViewPr varScale="1">
        <p:scale>
          <a:sx n="113" d="100"/>
          <a:sy n="113" d="100"/>
        </p:scale>
        <p:origin x="436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76411A9-99F8-4BB8-8215-9613E1AC9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16FB4C-B2E6-4EDA-9B2D-9EA5B89D35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882CB-1DB2-4645-A470-F5B9A17DC9E4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ED8598-E3DA-4614-84EB-8195F49D45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694265-D9C0-4D53-9C9D-BD70AD205A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014DA-9A99-4E0E-A4F3-24E4228C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426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06758-6C06-4D0E-AA78-C39026C04860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5E78C-56E1-48DE-B66C-912E57166C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846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060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633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1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87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336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9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9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81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56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8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989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2">
            <a:extLst>
              <a:ext uri="{FF2B5EF4-FFF2-40B4-BE49-F238E27FC236}">
                <a16:creationId xmlns:a16="http://schemas.microsoft.com/office/drawing/2014/main" id="{C68689B7-7C69-4151-B08B-C9F6E967391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570523" y="2708275"/>
            <a:ext cx="11076354" cy="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231" dirty="0">
              <a:solidFill>
                <a:srgbClr val="00000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1026" name="Picture 2" descr="공정거래위원회_국문가로">
            <a:extLst>
              <a:ext uri="{FF2B5EF4-FFF2-40B4-BE49-F238E27FC236}">
                <a16:creationId xmlns:a16="http://schemas.microsoft.com/office/drawing/2014/main" id="{5976302F-500F-4675-9DE1-4FDBE9E5E3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0525" y="512289"/>
            <a:ext cx="2352675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424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5"/>
          <p:cNvSpPr txBox="1">
            <a:spLocks noChangeArrowheads="1"/>
          </p:cNvSpPr>
          <p:nvPr userDrawn="1"/>
        </p:nvSpPr>
        <p:spPr bwMode="auto">
          <a:xfrm>
            <a:off x="5812430" y="6426285"/>
            <a:ext cx="431528" cy="31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defTabSz="9572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defTabSz="9572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defTabSz="9572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defTabSz="9572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r" latinLnBrk="0"/>
            <a:fld id="{5ED4C8D9-D16C-4FDD-97C5-1369A4F2AFC4}" type="slidenum">
              <a:rPr lang="en-US" altLang="ko-KR" sz="1477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latinLnBrk="0"/>
              <a:t>‹#›</a:t>
            </a:fld>
            <a:endParaRPr lang="en-US" altLang="ko-KR" sz="1231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텍스트 개체 틀 1"/>
          <p:cNvSpPr>
            <a:spLocks noGrp="1"/>
          </p:cNvSpPr>
          <p:nvPr>
            <p:ph type="body" sz="quarter" idx="10" hasCustomPrompt="1"/>
          </p:nvPr>
        </p:nvSpPr>
        <p:spPr>
          <a:xfrm>
            <a:off x="408617" y="260649"/>
            <a:ext cx="8696095" cy="255371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latinLnBrk="0">
              <a:buNone/>
              <a:defRPr sz="2215" b="1" spc="-123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en-US" altLang="ko-KR" dirty="0"/>
              <a:t>1. </a:t>
            </a:r>
            <a:r>
              <a:rPr lang="ko-KR" altLang="en-US" dirty="0"/>
              <a:t>소제목 맑은 고딕 </a:t>
            </a:r>
            <a:r>
              <a:rPr lang="en-US" altLang="ko-KR" dirty="0"/>
              <a:t>18pt Bold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EA60C8-9BB5-4F8A-83B6-D01188C9F184}"/>
              </a:ext>
            </a:extLst>
          </p:cNvPr>
          <p:cNvSpPr/>
          <p:nvPr userDrawn="1"/>
        </p:nvSpPr>
        <p:spPr>
          <a:xfrm>
            <a:off x="233194" y="163159"/>
            <a:ext cx="53169" cy="4462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/>
          </a:p>
        </p:txBody>
      </p:sp>
      <p:cxnSp>
        <p:nvCxnSpPr>
          <p:cNvPr id="12" name="직선 연결선 1"/>
          <p:cNvCxnSpPr/>
          <p:nvPr userDrawn="1"/>
        </p:nvCxnSpPr>
        <p:spPr>
          <a:xfrm>
            <a:off x="233194" y="6373054"/>
            <a:ext cx="11722823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"/>
          <p:cNvCxnSpPr/>
          <p:nvPr userDrawn="1"/>
        </p:nvCxnSpPr>
        <p:spPr>
          <a:xfrm>
            <a:off x="233194" y="665674"/>
            <a:ext cx="11722823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5"/>
          <p:cNvSpPr>
            <a:spLocks noGrp="1"/>
          </p:cNvSpPr>
          <p:nvPr>
            <p:ph type="body" sz="quarter" idx="11"/>
          </p:nvPr>
        </p:nvSpPr>
        <p:spPr>
          <a:xfrm>
            <a:off x="286363" y="736571"/>
            <a:ext cx="11669654" cy="538931"/>
          </a:xfrm>
          <a:prstGeom prst="rect">
            <a:avLst/>
          </a:prstGeom>
        </p:spPr>
        <p:txBody>
          <a:bodyPr/>
          <a:lstStyle>
            <a:lvl1pPr marL="0" marR="0" indent="0" algn="l" defTabSz="5627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+mn-ea"/>
                <a:ea typeface="+mn-ea"/>
              </a:defRPr>
            </a:lvl1pPr>
          </a:lstStyle>
          <a:p>
            <a:pPr lvl="0"/>
            <a:r>
              <a:rPr lang="ko-KR" altLang="en-US" sz="1723" dirty="0"/>
              <a:t>마스터 텍스트 스타일 편집</a:t>
            </a:r>
          </a:p>
        </p:txBody>
      </p:sp>
      <p:pic>
        <p:nvPicPr>
          <p:cNvPr id="14" name="Picture 2" descr="공정거래위원회_국문가로">
            <a:extLst>
              <a:ext uri="{FF2B5EF4-FFF2-40B4-BE49-F238E27FC236}">
                <a16:creationId xmlns:a16="http://schemas.microsoft.com/office/drawing/2014/main" id="{17209593-1CFB-4A46-84B4-EC456EE8F5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79914" y="6424655"/>
            <a:ext cx="1646873" cy="35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137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9" descr="44.png"/>
          <p:cNvPicPr>
            <a:picLocks/>
          </p:cNvPicPr>
          <p:nvPr userDrawn="1"/>
        </p:nvPicPr>
        <p:blipFill>
          <a:blip r:embed="rId2" cstate="print"/>
          <a:srcRect l="665" t="1286" r="1461" b="3613"/>
          <a:stretch>
            <a:fillRect/>
          </a:stretch>
        </p:blipFill>
        <p:spPr>
          <a:xfrm>
            <a:off x="422098" y="0"/>
            <a:ext cx="2570258" cy="1195200"/>
          </a:xfrm>
          <a:prstGeom prst="rect">
            <a:avLst/>
          </a:prstGeom>
        </p:spPr>
      </p:pic>
      <p:sp>
        <p:nvSpPr>
          <p:cNvPr id="9" name="텍스트 개체 틀 1"/>
          <p:cNvSpPr>
            <a:spLocks noGrp="1"/>
          </p:cNvSpPr>
          <p:nvPr>
            <p:ph type="body" sz="quarter" idx="11" hasCustomPrompt="1"/>
          </p:nvPr>
        </p:nvSpPr>
        <p:spPr>
          <a:xfrm>
            <a:off x="3614097" y="1700214"/>
            <a:ext cx="7976023" cy="4443912"/>
          </a:xfrm>
          <a:prstGeom prst="rect">
            <a:avLst/>
          </a:prstGeom>
        </p:spPr>
        <p:txBody>
          <a:bodyPr lIns="0" tIns="0" rIns="0" bIns="0"/>
          <a:lstStyle>
            <a:lvl1pPr marL="328254" indent="-328254">
              <a:buFont typeface="+mj-lt"/>
              <a:buAutoNum type="romanUcPeriod"/>
              <a:defRPr sz="2215" b="1" spc="-98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 marL="658463" indent="-330209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  <a:defRPr sz="1969" b="1" spc="-9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 marL="881207" indent="-201252">
              <a:buClr>
                <a:schemeClr val="tx1">
                  <a:lumMod val="75000"/>
                  <a:lumOff val="25000"/>
                </a:schemeClr>
              </a:buClr>
              <a:defRPr sz="1723" spc="-9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 marL="1125444" indent="-212975">
              <a:buClr>
                <a:schemeClr val="tx1">
                  <a:lumMod val="75000"/>
                  <a:lumOff val="25000"/>
                </a:schemeClr>
              </a:buClr>
              <a:tabLst>
                <a:tab pos="1103951" algn="l"/>
              </a:tabLst>
              <a:defRPr sz="1477" spc="-9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4pPr>
          </a:lstStyle>
          <a:p>
            <a:pPr lvl="0"/>
            <a:r>
              <a:rPr lang="ko-KR" altLang="en-US" dirty="0"/>
              <a:t>제목은 </a:t>
            </a:r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/>
              <a:t>18pt B</a:t>
            </a:r>
            <a:r>
              <a:rPr lang="ko-KR" altLang="en-US" dirty="0"/>
              <a:t>를 사용합니다</a:t>
            </a:r>
          </a:p>
          <a:p>
            <a:pPr lvl="1"/>
            <a:r>
              <a:rPr lang="ko-KR" altLang="en-US" dirty="0"/>
              <a:t>둘째 수준은 </a:t>
            </a:r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/>
              <a:t>16pt B</a:t>
            </a:r>
            <a:r>
              <a:rPr lang="ko-KR" altLang="en-US" dirty="0"/>
              <a:t>를 사용합니다</a:t>
            </a:r>
          </a:p>
          <a:p>
            <a:pPr lvl="2"/>
            <a:r>
              <a:rPr lang="ko-KR" altLang="en-US" dirty="0"/>
              <a:t>셋째 수준은 </a:t>
            </a:r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/>
              <a:t>14pt</a:t>
            </a:r>
            <a:r>
              <a:rPr lang="ko-KR" altLang="en-US" dirty="0"/>
              <a:t>를 사용합니다</a:t>
            </a:r>
          </a:p>
          <a:p>
            <a:pPr lvl="3"/>
            <a:r>
              <a:rPr lang="ko-KR" altLang="en-US" dirty="0"/>
              <a:t>넷째 수준은 </a:t>
            </a:r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/>
              <a:t>12pt</a:t>
            </a:r>
            <a:r>
              <a:rPr lang="ko-KR" altLang="en-US" dirty="0"/>
              <a:t>를 사용합니다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421119" y="642754"/>
            <a:ext cx="2571237" cy="660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92" b="1" spc="-123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  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D03F75-7B68-4C08-BB3E-8A6664F17D79}"/>
              </a:ext>
            </a:extLst>
          </p:cNvPr>
          <p:cNvSpPr/>
          <p:nvPr userDrawn="1"/>
        </p:nvSpPr>
        <p:spPr>
          <a:xfrm>
            <a:off x="421120" y="1195200"/>
            <a:ext cx="2570258" cy="4948926"/>
          </a:xfrm>
          <a:prstGeom prst="rect">
            <a:avLst/>
          </a:prstGeom>
          <a:pattFill prst="smConfetti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/>
          </a:p>
        </p:txBody>
      </p:sp>
      <p:pic>
        <p:nvPicPr>
          <p:cNvPr id="2050" name="Picture 2" descr="공정거래위원회_국문가로">
            <a:extLst>
              <a:ext uri="{FF2B5EF4-FFF2-40B4-BE49-F238E27FC236}">
                <a16:creationId xmlns:a16="http://schemas.microsoft.com/office/drawing/2014/main" id="{BCE86A3D-B114-4A78-B96A-59955F4BC7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88" y="6450149"/>
            <a:ext cx="1984102" cy="34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984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5"/>
          <p:cNvSpPr txBox="1">
            <a:spLocks noChangeArrowheads="1"/>
          </p:cNvSpPr>
          <p:nvPr userDrawn="1"/>
        </p:nvSpPr>
        <p:spPr bwMode="auto">
          <a:xfrm>
            <a:off x="5577715" y="6433905"/>
            <a:ext cx="833883" cy="31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defTabSz="957263" latinLnBrk="1"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defTabSz="9572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defTabSz="9572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defTabSz="9572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defTabSz="9572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r" latinLnBrk="0"/>
            <a:r>
              <a:rPr kumimoji="1" lang="en-US" altLang="ko-KR" sz="1477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Ⅲ</a:t>
            </a:r>
            <a:r>
              <a:rPr lang="en-US" altLang="ko-KR" sz="1477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fld id="{5ED4C8D9-D16C-4FDD-97C5-1369A4F2AFC4}" type="slidenum">
              <a:rPr lang="en-US" altLang="ko-KR" sz="1477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latinLnBrk="0"/>
              <a:t>‹#›</a:t>
            </a:fld>
            <a:endParaRPr lang="en-US" altLang="ko-KR" sz="1231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텍스트 개체 틀 1"/>
          <p:cNvSpPr>
            <a:spLocks noGrp="1"/>
          </p:cNvSpPr>
          <p:nvPr>
            <p:ph type="body" sz="quarter" idx="10" hasCustomPrompt="1"/>
          </p:nvPr>
        </p:nvSpPr>
        <p:spPr>
          <a:xfrm>
            <a:off x="424588" y="325968"/>
            <a:ext cx="4964235" cy="255371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latinLnBrk="0">
              <a:buNone/>
              <a:defRPr sz="2215" b="1" spc="-123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en-US" altLang="ko-KR" dirty="0"/>
              <a:t>1. </a:t>
            </a:r>
            <a:r>
              <a:rPr lang="ko-KR" altLang="en-US" dirty="0"/>
              <a:t>소제목 맑은 고딕 </a:t>
            </a:r>
            <a:r>
              <a:rPr lang="en-US" altLang="ko-KR" dirty="0"/>
              <a:t>18pt Bold</a:t>
            </a:r>
            <a:endParaRPr lang="ko-KR" altLang="en-US" dirty="0"/>
          </a:p>
        </p:txBody>
      </p:sp>
      <p:grpSp>
        <p:nvGrpSpPr>
          <p:cNvPr id="52" name="그룹 1"/>
          <p:cNvGrpSpPr/>
          <p:nvPr userDrawn="1"/>
        </p:nvGrpSpPr>
        <p:grpSpPr>
          <a:xfrm>
            <a:off x="233194" y="-11733"/>
            <a:ext cx="77973" cy="560413"/>
            <a:chOff x="331883" y="177636"/>
            <a:chExt cx="72000" cy="428679"/>
          </a:xfrm>
        </p:grpSpPr>
        <p:cxnSp>
          <p:nvCxnSpPr>
            <p:cNvPr id="53" name="직선 연결선 52"/>
            <p:cNvCxnSpPr/>
            <p:nvPr/>
          </p:nvCxnSpPr>
          <p:spPr>
            <a:xfrm>
              <a:off x="331883" y="177636"/>
              <a:ext cx="0" cy="42541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그림 53" descr="37.png"/>
            <p:cNvPicPr>
              <a:picLocks/>
            </p:cNvPicPr>
            <p:nvPr userDrawn="1"/>
          </p:nvPicPr>
          <p:blipFill>
            <a:blip r:embed="rId2" cstate="screen">
              <a:lum bright="-63000" contrast="-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31883" y="354315"/>
              <a:ext cx="72000" cy="25200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 userDrawn="1"/>
        </p:nvSpPr>
        <p:spPr>
          <a:xfrm rot="16200000">
            <a:off x="10989148" y="1715348"/>
            <a:ext cx="2159771" cy="24593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31" b="1" spc="-123" dirty="0">
                <a:solidFill>
                  <a:schemeClr val="bg1"/>
                </a:solidFill>
                <a:latin typeface="맑은 고딕" pitchFamily="50" charset="-127"/>
                <a:ea typeface="+mn-ea"/>
              </a:rPr>
              <a:t>Ⅱ. </a:t>
            </a:r>
            <a:r>
              <a:rPr lang="ko-KR" altLang="en-US" sz="1231" b="1" spc="-123" dirty="0">
                <a:solidFill>
                  <a:schemeClr val="bg1"/>
                </a:solidFill>
                <a:latin typeface="맑은 고딕" pitchFamily="50" charset="-127"/>
                <a:ea typeface="+mn-ea"/>
              </a:rPr>
              <a:t>환경 분석</a:t>
            </a:r>
          </a:p>
        </p:txBody>
      </p:sp>
      <p:cxnSp>
        <p:nvCxnSpPr>
          <p:cNvPr id="11" name="직선 연결선 1"/>
          <p:cNvCxnSpPr/>
          <p:nvPr userDrawn="1"/>
        </p:nvCxnSpPr>
        <p:spPr>
          <a:xfrm>
            <a:off x="233194" y="6373054"/>
            <a:ext cx="11722823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"/>
          <p:cNvCxnSpPr/>
          <p:nvPr userDrawn="1"/>
        </p:nvCxnSpPr>
        <p:spPr>
          <a:xfrm>
            <a:off x="233194" y="665674"/>
            <a:ext cx="11722823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공정거래위원회_국문가로">
            <a:extLst>
              <a:ext uri="{FF2B5EF4-FFF2-40B4-BE49-F238E27FC236}">
                <a16:creationId xmlns:a16="http://schemas.microsoft.com/office/drawing/2014/main" id="{1DD73FAC-8465-4D36-8A43-C14A51DE22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04" y="6464495"/>
            <a:ext cx="1411605" cy="30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878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3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73" r:id="rId14"/>
    <p:sldLayoutId id="2147483675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33A64CEB-CF42-4E46-BB69-35CBF0539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586" y="2917093"/>
            <a:ext cx="5941646" cy="2039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latinLnBrk="1" hangingPunct="0">
              <a:spcBef>
                <a:spcPct val="20000"/>
              </a:spcBef>
              <a:buChar char="•"/>
              <a:tabLst>
                <a:tab pos="5588000" algn="r"/>
              </a:tabLs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eaLnBrk="0" latinLnBrk="1" hangingPunct="0">
              <a:spcBef>
                <a:spcPct val="20000"/>
              </a:spcBef>
              <a:buChar char="–"/>
              <a:tabLst>
                <a:tab pos="5588000" algn="r"/>
              </a:tabLs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eaLnBrk="0" latinLnBrk="1" hangingPunct="0">
              <a:spcBef>
                <a:spcPct val="20000"/>
              </a:spcBef>
              <a:buChar char="•"/>
              <a:tabLst>
                <a:tab pos="5588000" algn="r"/>
              </a:tabLs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eaLnBrk="0" latinLnBrk="1" hangingPunct="0">
              <a:spcBef>
                <a:spcPct val="20000"/>
              </a:spcBef>
              <a:buChar char="–"/>
              <a:tabLst>
                <a:tab pos="5588000" algn="r"/>
              </a:tabLs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eaLnBrk="0" latinLnBrk="1" hangingPunct="0">
              <a:spcBef>
                <a:spcPct val="20000"/>
              </a:spcBef>
              <a:buChar char="•"/>
              <a:tabLst>
                <a:tab pos="5588000" algn="r"/>
              </a:tabLs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5588000" algn="r"/>
              </a:tabLs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5588000" algn="r"/>
              </a:tabLs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5588000" algn="r"/>
              </a:tabLs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5588000" algn="r"/>
              </a:tabLs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ko-KR" sz="2462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ko-KR" sz="1477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ADA999F-C01A-4FD0-BA6A-D865D9135E57}"/>
              </a:ext>
            </a:extLst>
          </p:cNvPr>
          <p:cNvSpPr txBox="1">
            <a:spLocks/>
          </p:cNvSpPr>
          <p:nvPr/>
        </p:nvSpPr>
        <p:spPr>
          <a:xfrm>
            <a:off x="1987760" y="1290080"/>
            <a:ext cx="9641534" cy="168172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5000" dirty="0">
                <a:solidFill>
                  <a:srgbClr val="7030A0"/>
                </a:solidFill>
              </a:rPr>
              <a:t> </a:t>
            </a:r>
            <a:br>
              <a:rPr lang="en-US" altLang="ko-KR" sz="5000" dirty="0">
                <a:solidFill>
                  <a:srgbClr val="7030A0"/>
                </a:solidFill>
              </a:rPr>
            </a:br>
            <a:r>
              <a:rPr lang="ko-KR" altLang="en-US" sz="5000" dirty="0" err="1"/>
              <a:t>팀명</a:t>
            </a:r>
            <a:r>
              <a:rPr lang="en-US" altLang="ko-KR" sz="5000" dirty="0"/>
              <a:t>: OOOOO00OO </a:t>
            </a:r>
            <a:endParaRPr lang="ko-KR" altLang="en-US" sz="5000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0BDAA871-8DD1-49B3-B449-5D1C6121768A}"/>
              </a:ext>
            </a:extLst>
          </p:cNvPr>
          <p:cNvSpPr txBox="1">
            <a:spLocks/>
          </p:cNvSpPr>
          <p:nvPr/>
        </p:nvSpPr>
        <p:spPr>
          <a:xfrm>
            <a:off x="-285574" y="3103424"/>
            <a:ext cx="11978431" cy="3053535"/>
          </a:xfrm>
          <a:prstGeom prst="rect">
            <a:avLst/>
          </a:prstGeom>
        </p:spPr>
        <p:txBody>
          <a:bodyPr vert="horz" lIns="112542" tIns="56271" rIns="112542" bIns="56271" rtlCol="0">
            <a:noAutofit/>
          </a:bodyPr>
          <a:lstStyle>
            <a:lvl1pPr marL="228608" indent="-228608" algn="l" defTabSz="914429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23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37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52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67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79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94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09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23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buNone/>
            </a:pPr>
            <a:endParaRPr lang="en-US" altLang="ko-KR" sz="2400" dirty="0"/>
          </a:p>
          <a:p>
            <a:pPr marL="0" indent="0" algn="r">
              <a:lnSpc>
                <a:spcPct val="120000"/>
              </a:lnSpc>
              <a:buNone/>
            </a:pPr>
            <a:endParaRPr lang="en-US" altLang="ko-KR" sz="2400" dirty="0"/>
          </a:p>
          <a:p>
            <a:pPr marL="0" indent="0" algn="r">
              <a:lnSpc>
                <a:spcPct val="120000"/>
              </a:lnSpc>
              <a:buNone/>
            </a:pPr>
            <a:endParaRPr lang="en-US" altLang="ko-KR" sz="2400" dirty="0"/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2400" dirty="0"/>
              <a:t>발표자</a:t>
            </a:r>
            <a:r>
              <a:rPr lang="en-US" altLang="ko-KR" sz="2400" dirty="0"/>
              <a:t>: O </a:t>
            </a:r>
            <a:r>
              <a:rPr lang="en-US" altLang="ko-KR" sz="2400" dirty="0" err="1"/>
              <a:t>O</a:t>
            </a:r>
            <a:r>
              <a:rPr lang="en-US" altLang="ko-KR" sz="2400" dirty="0"/>
              <a:t> </a:t>
            </a:r>
            <a:r>
              <a:rPr lang="en-US" altLang="ko-KR" sz="2400" dirty="0" err="1"/>
              <a:t>O</a:t>
            </a:r>
            <a:endParaRPr lang="en-US" altLang="ko-KR" sz="300" dirty="0"/>
          </a:p>
        </p:txBody>
      </p:sp>
    </p:spTree>
    <p:extLst>
      <p:ext uri="{BB962C8B-B14F-4D97-AF65-F5344CB8AC3E}">
        <p14:creationId xmlns:p14="http://schemas.microsoft.com/office/powerpoint/2010/main" val="4148333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목차</a:t>
            </a:r>
          </a:p>
        </p:txBody>
      </p:sp>
      <p:sp>
        <p:nvSpPr>
          <p:cNvPr id="25" name="내용 개체 틀 3">
            <a:extLst>
              <a:ext uri="{FF2B5EF4-FFF2-40B4-BE49-F238E27FC236}">
                <a16:creationId xmlns:a16="http://schemas.microsoft.com/office/drawing/2014/main" id="{00A901B2-F043-49FF-A654-B30BCCFF6477}"/>
              </a:ext>
            </a:extLst>
          </p:cNvPr>
          <p:cNvSpPr txBox="1">
            <a:spLocks/>
          </p:cNvSpPr>
          <p:nvPr/>
        </p:nvSpPr>
        <p:spPr>
          <a:xfrm>
            <a:off x="244651" y="816145"/>
            <a:ext cx="5851350" cy="53120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8" indent="-228608" algn="l" defTabSz="914429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23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37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52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67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79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94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09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23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600" b="1" dirty="0"/>
              <a:t>1. </a:t>
            </a:r>
            <a:r>
              <a:rPr lang="ko-KR" altLang="en-US" sz="1600" b="1" dirty="0"/>
              <a:t>개요</a:t>
            </a:r>
            <a:endParaRPr lang="en-US" altLang="ko-KR" sz="1600" b="1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1.1 </a:t>
            </a:r>
            <a:r>
              <a:rPr lang="ko-KR" altLang="en-US" sz="1400" dirty="0"/>
              <a:t>인공지능 모델기획 분야 및 목적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1.2. </a:t>
            </a:r>
            <a:r>
              <a:rPr lang="ko-KR" altLang="en-US" sz="1400" dirty="0"/>
              <a:t>배경 및 필요성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1.3. </a:t>
            </a:r>
            <a:r>
              <a:rPr lang="ko-KR" altLang="en-US" sz="1400" dirty="0"/>
              <a:t>인공지능모델 구축 결과 내용 요약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endParaRPr lang="en-US" altLang="ko-KR" sz="10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600" b="1" dirty="0"/>
              <a:t>2. </a:t>
            </a:r>
            <a:r>
              <a:rPr lang="ko-KR" altLang="en-US" sz="1600" b="1" dirty="0"/>
              <a:t>주요내용</a:t>
            </a:r>
            <a:endParaRPr lang="en-US" altLang="ko-KR" sz="1600" b="1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2.1. </a:t>
            </a:r>
            <a:r>
              <a:rPr lang="ko-KR" altLang="en-US" sz="1400" dirty="0"/>
              <a:t>대상 사용자 유형 및 활용범위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2.3. </a:t>
            </a:r>
            <a:r>
              <a:rPr lang="ko-KR" altLang="en-US" sz="1400" dirty="0"/>
              <a:t>구축 </a:t>
            </a:r>
            <a:r>
              <a:rPr lang="en-US" altLang="ko-KR" sz="1400" dirty="0"/>
              <a:t>AI </a:t>
            </a:r>
            <a:r>
              <a:rPr lang="ko-KR" altLang="en-US" sz="1400" dirty="0"/>
              <a:t>서비스 모델 구조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2.4. AI</a:t>
            </a:r>
            <a:r>
              <a:rPr lang="ko-KR" altLang="en-US" sz="1400" dirty="0"/>
              <a:t> 서비스 화면 구성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endParaRPr lang="en-US" altLang="ko-KR" sz="10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600" b="1" dirty="0"/>
              <a:t>3. </a:t>
            </a:r>
            <a:r>
              <a:rPr lang="ko-KR" altLang="en-US" sz="1600" b="1" dirty="0"/>
              <a:t>문제정의 및 해결방안</a:t>
            </a:r>
            <a:endParaRPr lang="en-US" altLang="ko-KR" sz="1600" b="1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3.1. </a:t>
            </a:r>
            <a:r>
              <a:rPr lang="ko-KR" altLang="en-US" sz="1400" dirty="0"/>
              <a:t>문제 정의 및 해결 접근방식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3.2. </a:t>
            </a:r>
            <a:r>
              <a:rPr lang="ko-KR" altLang="en-US" sz="1400" dirty="0"/>
              <a:t>서비스 구현을 위한 모델구조</a:t>
            </a:r>
            <a:r>
              <a:rPr lang="en-US" altLang="ko-KR" sz="1400" dirty="0"/>
              <a:t>(</a:t>
            </a:r>
            <a:r>
              <a:rPr lang="ko-KR" altLang="en-US" sz="1400" dirty="0"/>
              <a:t>아키텍처</a:t>
            </a:r>
            <a:r>
              <a:rPr lang="en-US" altLang="ko-KR" sz="14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3.3. </a:t>
            </a:r>
            <a:r>
              <a:rPr lang="ko-KR" altLang="en-US" sz="1400" dirty="0"/>
              <a:t>시나리오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3.4. </a:t>
            </a:r>
            <a:r>
              <a:rPr lang="ko-KR" altLang="en-US" sz="1400" dirty="0"/>
              <a:t>기술 구현 결과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3.5. </a:t>
            </a:r>
            <a:r>
              <a:rPr lang="ko-KR" altLang="en-US" sz="1400" dirty="0"/>
              <a:t>결과 해석 및 시사점</a:t>
            </a:r>
            <a:endParaRPr lang="en-US" altLang="ko-KR" sz="1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46EF5D1-E5F8-4028-B4EF-1913B9CAC5C9}"/>
              </a:ext>
            </a:extLst>
          </p:cNvPr>
          <p:cNvSpPr txBox="1">
            <a:spLocks/>
          </p:cNvSpPr>
          <p:nvPr/>
        </p:nvSpPr>
        <p:spPr>
          <a:xfrm>
            <a:off x="6179037" y="772953"/>
            <a:ext cx="5851350" cy="53120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8" indent="-228608" algn="l" defTabSz="914429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23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37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52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67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79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94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09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23" indent="-228608" algn="l" defTabSz="91442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600" b="1" dirty="0"/>
              <a:t>4. </a:t>
            </a:r>
            <a:r>
              <a:rPr lang="ko-KR" altLang="en-US" sz="1600" b="1" dirty="0"/>
              <a:t>데이터 활용 결과</a:t>
            </a:r>
            <a:endParaRPr lang="en-US" altLang="ko-KR" sz="1600" b="1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4.1. </a:t>
            </a:r>
            <a:r>
              <a:rPr lang="ko-KR" altLang="en-US" sz="1400" dirty="0"/>
              <a:t>기본 방향   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4.2. </a:t>
            </a:r>
            <a:r>
              <a:rPr lang="ko-KR" altLang="en-US" sz="1400" dirty="0"/>
              <a:t>세부 설계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4.3</a:t>
            </a:r>
            <a:r>
              <a:rPr lang="en-US" altLang="ko-KR" sz="1400"/>
              <a:t>. </a:t>
            </a:r>
            <a:r>
              <a:rPr lang="ko-KR" altLang="en-US" sz="1400"/>
              <a:t>데이터 </a:t>
            </a:r>
            <a:r>
              <a:rPr lang="ko-KR" altLang="en-US" sz="1400" dirty="0"/>
              <a:t>활용결과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endParaRPr lang="en-US" altLang="ko-KR" sz="10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600" b="1" dirty="0"/>
              <a:t>5. </a:t>
            </a:r>
            <a:r>
              <a:rPr lang="ko-KR" altLang="en-US" sz="1600" b="1" dirty="0"/>
              <a:t>기대효과</a:t>
            </a:r>
            <a:endParaRPr lang="en-US" altLang="ko-KR" sz="1600" b="1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5.1. </a:t>
            </a:r>
            <a:r>
              <a:rPr lang="ko-KR" altLang="en-US" sz="1400" dirty="0"/>
              <a:t>수요자 </a:t>
            </a:r>
            <a:r>
              <a:rPr lang="en-US" altLang="ko-KR" sz="1400" dirty="0"/>
              <a:t>(</a:t>
            </a:r>
            <a:r>
              <a:rPr lang="ko-KR" altLang="en-US" sz="1400" dirty="0"/>
              <a:t>국민</a:t>
            </a:r>
            <a:r>
              <a:rPr lang="en-US" altLang="ko-KR" sz="1400" dirty="0"/>
              <a:t>,</a:t>
            </a:r>
            <a:r>
              <a:rPr lang="ko-KR" altLang="en-US" sz="1400" dirty="0"/>
              <a:t>기업</a:t>
            </a:r>
            <a:r>
              <a:rPr lang="en-US" altLang="ko-KR" sz="1400" dirty="0"/>
              <a:t>,</a:t>
            </a:r>
            <a:r>
              <a:rPr lang="ko-KR" altLang="en-US" sz="1400" dirty="0"/>
              <a:t>정부 등</a:t>
            </a:r>
            <a:r>
              <a:rPr lang="en-US" altLang="ko-KR" sz="1400" dirty="0"/>
              <a:t>)</a:t>
            </a:r>
            <a:r>
              <a:rPr lang="ko-KR" altLang="en-US" sz="1400" dirty="0"/>
              <a:t>관점 예상 기대효과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5.2. </a:t>
            </a:r>
            <a:r>
              <a:rPr lang="ko-KR" altLang="en-US" sz="1400" dirty="0"/>
              <a:t>실제 적용결과 자체평가</a:t>
            </a:r>
            <a:endParaRPr lang="en-US" altLang="ko-KR" sz="14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endParaRPr lang="en-US" altLang="ko-KR" sz="1000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600" b="1" dirty="0"/>
              <a:t>6. </a:t>
            </a:r>
            <a:r>
              <a:rPr lang="ko-KR" altLang="en-US" sz="1600" b="1" dirty="0"/>
              <a:t>기타 사항</a:t>
            </a:r>
            <a:endParaRPr lang="en-US" altLang="ko-KR" sz="1600" b="1" dirty="0"/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6.1. </a:t>
            </a:r>
            <a:r>
              <a:rPr lang="ko-KR" altLang="en-US" sz="1400" dirty="0"/>
              <a:t>구현의 한계와 교훈</a:t>
            </a:r>
            <a:r>
              <a:rPr lang="en-US" altLang="ko-KR" sz="1400" dirty="0"/>
              <a:t>(Lessoned Learned)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altLang="ko-KR" sz="1400" dirty="0"/>
              <a:t>          6.2. </a:t>
            </a:r>
            <a:r>
              <a:rPr lang="ko-KR" altLang="en-US" sz="1400" dirty="0"/>
              <a:t>활용 데이터 및 참고 문헌  출처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2250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27300</TotalTime>
  <Words>168</Words>
  <Application>Microsoft Office PowerPoint</Application>
  <PresentationFormat>와이드스크린</PresentationFormat>
  <Paragraphs>34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바탕체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황태규</cp:lastModifiedBy>
  <cp:revision>1017</cp:revision>
  <cp:lastPrinted>2023-09-01T00:58:31Z</cp:lastPrinted>
  <dcterms:created xsi:type="dcterms:W3CDTF">2021-11-12T13:15:26Z</dcterms:created>
  <dcterms:modified xsi:type="dcterms:W3CDTF">2026-06-01T00:59:30Z</dcterms:modified>
</cp:coreProperties>
</file>